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386028-F5F6-44C2-87D4-5F12B34F1396}">
  <a:tblStyle styleId="{00386028-F5F6-44C2-87D4-5F12B34F1396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541eed0f4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541eed0f4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541eed0f4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541eed0f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541eed0f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541eed0f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541eed0f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541eed0f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541eed0f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541eed0f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541eed0f4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541eed0f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541eed0f4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541eed0f4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5b24e26b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5b24e26b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541eed0f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541eed0f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541eed0f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541eed0f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541eed0f4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541eed0f4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541eed0f4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541eed0f4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5b24e26b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5b24e26b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9182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" sz="4000">
                <a:solidFill>
                  <a:srgbClr val="1C1C2C"/>
                </a:solidFill>
                <a:latin typeface="Calibri"/>
                <a:ea typeface="Calibri"/>
                <a:cs typeface="Calibri"/>
                <a:sym typeface="Calibri"/>
              </a:rPr>
              <a:t>Assistant intelligent de recommandation</a:t>
            </a:r>
            <a:br>
              <a:rPr lang="fr" sz="4000">
                <a:solidFill>
                  <a:srgbClr val="1C1C2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" sz="4000">
                <a:solidFill>
                  <a:srgbClr val="1C1C2C"/>
                </a:solidFill>
                <a:latin typeface="Calibri"/>
                <a:ea typeface="Calibri"/>
                <a:cs typeface="Calibri"/>
                <a:sym typeface="Calibri"/>
              </a:rPr>
              <a:t>d'événements</a:t>
            </a:r>
            <a:r>
              <a:rPr lang="fr" sz="4000">
                <a:solidFill>
                  <a:srgbClr val="1C1C2C"/>
                </a:solidFill>
                <a:latin typeface="Calibri"/>
                <a:ea typeface="Calibri"/>
                <a:cs typeface="Calibri"/>
                <a:sym typeface="Calibri"/>
              </a:rPr>
              <a:t> culturels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POC basé sur un </a:t>
            </a:r>
            <a:r>
              <a:rPr lang="fr"/>
              <a:t> système RAG pour Puls-Events</a:t>
            </a:r>
            <a:endParaRPr/>
          </a:p>
        </p:txBody>
      </p:sp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871152" y="414085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Raphaël RIVIERE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" sz="3200">
                <a:solidFill>
                  <a:srgbClr val="1C1C2C"/>
                </a:solidFill>
                <a:latin typeface="Calibri"/>
                <a:ea typeface="Calibri"/>
                <a:cs typeface="Calibri"/>
                <a:sym typeface="Calibri"/>
              </a:rPr>
              <a:t>Contexte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●"/>
            </a:pPr>
            <a:r>
              <a:rPr b="1" lang="fr">
                <a:solidFill>
                  <a:srgbClr val="333333"/>
                </a:solidFill>
              </a:rPr>
              <a:t>Puls-Events</a:t>
            </a:r>
            <a:r>
              <a:rPr lang="fr">
                <a:solidFill>
                  <a:srgbClr val="333333"/>
                </a:solidFill>
              </a:rPr>
              <a:t> : Plateforme de recommandations culturelles </a:t>
            </a:r>
            <a:r>
              <a:rPr lang="fr">
                <a:solidFill>
                  <a:srgbClr val="333333"/>
                </a:solidFill>
              </a:rPr>
              <a:t>personnalisées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●"/>
            </a:pPr>
            <a:r>
              <a:rPr b="1" lang="fr">
                <a:solidFill>
                  <a:srgbClr val="333333"/>
                </a:solidFill>
              </a:rPr>
              <a:t>Besoin </a:t>
            </a:r>
            <a:r>
              <a:rPr lang="fr">
                <a:solidFill>
                  <a:srgbClr val="333333"/>
                </a:solidFill>
              </a:rPr>
              <a:t>: un chatbot intelligent sur les </a:t>
            </a:r>
            <a:r>
              <a:rPr lang="fr">
                <a:solidFill>
                  <a:srgbClr val="333333"/>
                </a:solidFill>
              </a:rPr>
              <a:t>événements</a:t>
            </a:r>
            <a:r>
              <a:rPr lang="fr">
                <a:solidFill>
                  <a:srgbClr val="333333"/>
                </a:solidFill>
              </a:rPr>
              <a:t> culturels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Calibri"/>
              <a:buChar char="●"/>
            </a:pPr>
            <a:r>
              <a:rPr b="1" lang="fr">
                <a:solidFill>
                  <a:srgbClr val="333333"/>
                </a:solidFill>
              </a:rPr>
              <a:t>Objectif </a:t>
            </a:r>
            <a:r>
              <a:rPr lang="fr">
                <a:solidFill>
                  <a:srgbClr val="333333"/>
                </a:solidFill>
              </a:rPr>
              <a:t>: </a:t>
            </a:r>
            <a:r>
              <a:rPr lang="fr">
                <a:solidFill>
                  <a:srgbClr val="333333"/>
                </a:solidFill>
              </a:rPr>
              <a:t>démontrer</a:t>
            </a:r>
            <a:r>
              <a:rPr lang="fr">
                <a:solidFill>
                  <a:srgbClr val="333333"/>
                </a:solidFill>
              </a:rPr>
              <a:t> la </a:t>
            </a:r>
            <a:r>
              <a:rPr lang="fr">
                <a:solidFill>
                  <a:srgbClr val="333333"/>
                </a:solidFill>
              </a:rPr>
              <a:t>faisabilité</a:t>
            </a:r>
            <a:r>
              <a:rPr lang="fr">
                <a:solidFill>
                  <a:srgbClr val="333333"/>
                </a:solidFill>
              </a:rPr>
              <a:t> technique et </a:t>
            </a:r>
            <a:r>
              <a:rPr lang="fr">
                <a:solidFill>
                  <a:srgbClr val="333333"/>
                </a:solidFill>
              </a:rPr>
              <a:t>métier</a:t>
            </a:r>
            <a:endParaRPr>
              <a:solidFill>
                <a:srgbClr val="333333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Char char="●"/>
            </a:pPr>
            <a:r>
              <a:rPr b="1" lang="fr">
                <a:solidFill>
                  <a:srgbClr val="333333"/>
                </a:solidFill>
              </a:rPr>
              <a:t>Solution </a:t>
            </a:r>
            <a:r>
              <a:rPr lang="fr">
                <a:solidFill>
                  <a:srgbClr val="333333"/>
                </a:solidFill>
              </a:rPr>
              <a:t>: système RAG = recherche vectorielle + génération LLM</a:t>
            </a:r>
            <a:endParaRPr>
              <a:solidFill>
                <a:srgbClr val="333333"/>
              </a:solidFill>
            </a:endParaRPr>
          </a:p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82000" y="557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" sz="3200">
                <a:solidFill>
                  <a:srgbClr val="1C1C2C"/>
                </a:solidFill>
                <a:latin typeface="Calibri"/>
                <a:ea typeface="Calibri"/>
                <a:cs typeface="Calibri"/>
                <a:sym typeface="Calibri"/>
              </a:rPr>
              <a:t>Architecture du </a:t>
            </a:r>
            <a:r>
              <a:rPr lang="fr" sz="3200">
                <a:solidFill>
                  <a:srgbClr val="1C1C2C"/>
                </a:solidFill>
                <a:latin typeface="Calibri"/>
                <a:ea typeface="Calibri"/>
                <a:cs typeface="Calibri"/>
                <a:sym typeface="Calibri"/>
              </a:rPr>
              <a:t>système RAG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7650" y="1643925"/>
            <a:ext cx="4549200" cy="342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"/>
              <a:t>Collecte &amp; préparation 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API OpenAgenda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Nettoyage &amp; structuration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Indexation 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Embeddings (Mistral)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FAISS</a:t>
            </a:r>
            <a:endParaRPr/>
          </a:p>
          <a:p>
            <a:pPr indent="-311150" lvl="0" marL="457200" marR="76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LangChain  </a:t>
            </a:r>
            <a:endParaRPr/>
          </a:p>
          <a:p>
            <a:pPr indent="0" lvl="0" marL="0" marR="76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Génération 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LangChain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Mistral (LLM)</a:t>
            </a:r>
            <a:endParaRPr/>
          </a:p>
          <a:p>
            <a:pPr indent="-311150" lvl="0" marL="457200" marR="76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/>
              <a:t>FastAPI (exposition REST)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5" title="pipeline_rag_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5600" y="609468"/>
            <a:ext cx="3497575" cy="47320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" sz="3200">
                <a:solidFill>
                  <a:srgbClr val="1C1C2C"/>
                </a:solidFill>
                <a:latin typeface="Calibri"/>
                <a:ea typeface="Calibri"/>
                <a:cs typeface="Calibri"/>
                <a:sym typeface="Calibri"/>
              </a:rPr>
              <a:t>Périmètre</a:t>
            </a:r>
            <a:r>
              <a:rPr lang="fr" sz="3200">
                <a:solidFill>
                  <a:srgbClr val="1C1C2C"/>
                </a:solidFill>
                <a:latin typeface="Calibri"/>
                <a:ea typeface="Calibri"/>
                <a:cs typeface="Calibri"/>
                <a:sym typeface="Calibri"/>
              </a:rPr>
              <a:t> des données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aphicFrame>
        <p:nvGraphicFramePr>
          <p:cNvPr id="110" name="Google Shape;110;p16"/>
          <p:cNvGraphicFramePr/>
          <p:nvPr/>
        </p:nvGraphicFramePr>
        <p:xfrm>
          <a:off x="832295" y="23388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{00386028-F5F6-44C2-87D4-5F12B34F1396}</a:tableStyleId>
              </a:tblPr>
              <a:tblGrid>
                <a:gridCol w="4019925"/>
                <a:gridCol w="3858525"/>
              </a:tblGrid>
              <a:tr h="380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latin typeface="Lato"/>
                          <a:ea typeface="Lato"/>
                          <a:cs typeface="Lato"/>
                          <a:sym typeface="Lato"/>
                        </a:rPr>
                        <a:t>Critère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latin typeface="Lato"/>
                          <a:ea typeface="Lato"/>
                          <a:cs typeface="Lato"/>
                          <a:sym typeface="Lato"/>
                        </a:rPr>
                        <a:t>Méthode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</a:tr>
              <a:tr h="276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Zone géographique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Île-de-France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6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Source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API OpenAgenda (via OpenDataSoft)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>
                    <a:solidFill>
                      <a:srgbClr val="E8ECF0"/>
                    </a:solidFill>
                  </a:tcPr>
                </a:tc>
              </a:tr>
              <a:tr h="276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Période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 mois avant + 6 mois à venir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76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Nombre d’événements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jusqu’à 1000 événements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>
                    <a:solidFill>
                      <a:srgbClr val="E8ECF0"/>
                    </a:solidFill>
                  </a:tcPr>
                </a:tc>
              </a:tr>
              <a:tr h="2767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Langue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Français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rgbClr val="1C1C2C"/>
                </a:solidFill>
                <a:latin typeface="Calibri"/>
                <a:ea typeface="Calibri"/>
                <a:cs typeface="Calibri"/>
                <a:sym typeface="Calibri"/>
              </a:rPr>
              <a:t>Nettoyage et préparation des données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729450" y="2078875"/>
            <a:ext cx="7688700" cy="29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">
                <a:solidFill>
                  <a:srgbClr val="333333"/>
                </a:solidFill>
              </a:rPr>
              <a:t>Nettoyage : </a:t>
            </a:r>
            <a:endParaRPr>
              <a:solidFill>
                <a:srgbClr val="333333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Char char="●"/>
            </a:pPr>
            <a:r>
              <a:rPr lang="fr">
                <a:solidFill>
                  <a:srgbClr val="333333"/>
                </a:solidFill>
              </a:rPr>
              <a:t>Gestion des données manquantes (titre, description)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Char char="●"/>
            </a:pPr>
            <a:r>
              <a:rPr lang="fr">
                <a:solidFill>
                  <a:srgbClr val="333333"/>
                </a:solidFill>
              </a:rPr>
              <a:t>Suppression des balises HTML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Char char="●"/>
            </a:pPr>
            <a:r>
              <a:rPr lang="fr">
                <a:solidFill>
                  <a:srgbClr val="333333"/>
                </a:solidFill>
              </a:rPr>
              <a:t>Gestion des doublons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Char char="●"/>
            </a:pPr>
            <a:r>
              <a:rPr lang="fr">
                <a:solidFill>
                  <a:srgbClr val="333333"/>
                </a:solidFill>
              </a:rPr>
              <a:t>Normalisation </a:t>
            </a:r>
            <a:r>
              <a:rPr lang="fr">
                <a:solidFill>
                  <a:srgbClr val="333333"/>
                </a:solidFill>
              </a:rPr>
              <a:t>géographique</a:t>
            </a:r>
            <a:r>
              <a:rPr lang="fr">
                <a:solidFill>
                  <a:srgbClr val="333333"/>
                </a:solidFill>
              </a:rPr>
              <a:t> (département, quartier)</a:t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333333"/>
                </a:solidFill>
              </a:rPr>
              <a:t>Construction du champ texte :</a:t>
            </a:r>
            <a:r>
              <a:rPr lang="fr">
                <a:solidFill>
                  <a:srgbClr val="000000"/>
                </a:solidFill>
              </a:rPr>
              <a:t> </a:t>
            </a:r>
            <a:r>
              <a:rPr b="1" lang="fr">
                <a:solidFill>
                  <a:srgbClr val="111111"/>
                </a:solidFill>
              </a:rPr>
              <a:t>Titre | Description | Dates | Lieu | Conditions | Âge</a:t>
            </a:r>
            <a:endParaRPr b="1">
              <a:solidFill>
                <a:srgbClr val="11111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">
                <a:solidFill>
                  <a:srgbClr val="333333"/>
                </a:solidFill>
              </a:rPr>
              <a:t>Vectorisation : </a:t>
            </a:r>
            <a:endParaRPr>
              <a:solidFill>
                <a:srgbClr val="333333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300"/>
              <a:buChar char="●"/>
            </a:pPr>
            <a:r>
              <a:rPr lang="fr">
                <a:solidFill>
                  <a:srgbClr val="333333"/>
                </a:solidFill>
              </a:rPr>
              <a:t>Chunk size : </a:t>
            </a:r>
            <a:r>
              <a:rPr b="1" lang="fr">
                <a:solidFill>
                  <a:srgbClr val="333333"/>
                </a:solidFill>
              </a:rPr>
              <a:t>700 caractères</a:t>
            </a:r>
            <a:endParaRPr b="1">
              <a:solidFill>
                <a:srgbClr val="333333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Char char="●"/>
            </a:pPr>
            <a:r>
              <a:rPr lang="fr">
                <a:solidFill>
                  <a:srgbClr val="333333"/>
                </a:solidFill>
              </a:rPr>
              <a:t>Overlap : 50 caractères</a:t>
            </a:r>
            <a:endParaRPr b="1">
              <a:solidFill>
                <a:srgbClr val="333333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Char char="●"/>
            </a:pPr>
            <a:r>
              <a:rPr lang="fr">
                <a:solidFill>
                  <a:srgbClr val="333333"/>
                </a:solidFill>
              </a:rPr>
              <a:t>Séparateur :</a:t>
            </a:r>
            <a:r>
              <a:rPr b="1" lang="fr">
                <a:solidFill>
                  <a:srgbClr val="333333"/>
                </a:solidFill>
              </a:rPr>
              <a:t> [ ' | ', '\n\n', '\n', ' ' ]</a:t>
            </a:r>
            <a:endParaRPr b="1">
              <a:solidFill>
                <a:srgbClr val="333333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Char char="●"/>
            </a:pPr>
            <a:r>
              <a:rPr lang="fr">
                <a:solidFill>
                  <a:srgbClr val="333333"/>
                </a:solidFill>
              </a:rPr>
              <a:t>Embeddings Mistral (1024 dimensions)</a:t>
            </a:r>
            <a:endParaRPr/>
          </a:p>
        </p:txBody>
      </p: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" sz="3200">
                <a:solidFill>
                  <a:srgbClr val="1C1C2C"/>
                </a:solidFill>
                <a:latin typeface="Calibri"/>
                <a:ea typeface="Calibri"/>
                <a:cs typeface="Calibri"/>
                <a:sym typeface="Calibri"/>
              </a:rPr>
              <a:t>Pipeline RAG 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729450" y="2078875"/>
            <a:ext cx="7688700" cy="31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" sz="1400">
                <a:solidFill>
                  <a:srgbClr val="333333"/>
                </a:solidFill>
              </a:rPr>
              <a:t>Modèle : </a:t>
            </a:r>
            <a:r>
              <a:rPr b="1" i="1" lang="fr" sz="1400">
                <a:solidFill>
                  <a:srgbClr val="333333"/>
                </a:solidFill>
              </a:rPr>
              <a:t>mistral-small-latest</a:t>
            </a:r>
            <a:endParaRPr b="1" i="1" sz="14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" sz="1400">
                <a:solidFill>
                  <a:srgbClr val="333333"/>
                </a:solidFill>
              </a:rPr>
              <a:t>Choix du modèle :</a:t>
            </a:r>
            <a:endParaRPr sz="1400">
              <a:solidFill>
                <a:srgbClr val="333333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400">
                <a:solidFill>
                  <a:srgbClr val="333333"/>
                </a:solidFill>
              </a:rPr>
              <a:t>Excellente qualité en français</a:t>
            </a:r>
            <a:r>
              <a:rPr lang="fr" sz="1400">
                <a:solidFill>
                  <a:srgbClr val="000000"/>
                </a:solidFill>
              </a:rPr>
              <a:t> </a:t>
            </a:r>
            <a:endParaRPr>
              <a:solidFill>
                <a:srgbClr val="333333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 sz="1400">
                <a:solidFill>
                  <a:srgbClr val="333333"/>
                </a:solidFill>
              </a:rPr>
              <a:t>Intégration native LangChain (</a:t>
            </a:r>
            <a:r>
              <a:rPr i="1" lang="fr" sz="1400">
                <a:solidFill>
                  <a:srgbClr val="333333"/>
                </a:solidFill>
              </a:rPr>
              <a:t>langchain-mistralai</a:t>
            </a:r>
            <a:r>
              <a:rPr lang="fr" sz="1400">
                <a:solidFill>
                  <a:srgbClr val="333333"/>
                </a:solidFill>
              </a:rPr>
              <a:t>)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fr" sz="1400">
                <a:solidFill>
                  <a:srgbClr val="333333"/>
                </a:solidFill>
              </a:rPr>
              <a:t>API sans infrastructure — idéal pour un POC</a:t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>
              <a:solidFill>
                <a:srgbClr val="33333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" sz="1400">
                <a:solidFill>
                  <a:srgbClr val="333333"/>
                </a:solidFill>
              </a:rPr>
              <a:t>Paramètres :</a:t>
            </a:r>
            <a:endParaRPr sz="1400">
              <a:solidFill>
                <a:srgbClr val="333333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fr" sz="1400">
                <a:solidFill>
                  <a:srgbClr val="333333"/>
                </a:solidFill>
              </a:rPr>
              <a:t>Temperature : 0.2</a:t>
            </a:r>
            <a:r>
              <a:rPr lang="fr" sz="1400">
                <a:solidFill>
                  <a:srgbClr val="333333"/>
                </a:solidFill>
              </a:rPr>
              <a:t> → réponses fiables</a:t>
            </a:r>
            <a:endParaRPr sz="1400">
              <a:solidFill>
                <a:srgbClr val="333333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b="1" lang="fr" sz="1400">
                <a:solidFill>
                  <a:srgbClr val="333333"/>
                </a:solidFill>
              </a:rPr>
              <a:t>k = 7</a:t>
            </a:r>
            <a:r>
              <a:rPr lang="fr" sz="1400">
                <a:solidFill>
                  <a:srgbClr val="333333"/>
                </a:solidFill>
              </a:rPr>
              <a:t>  →  équilibre précision / bruit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Char char="●"/>
            </a:pPr>
            <a:r>
              <a:rPr lang="fr" sz="1400">
                <a:solidFill>
                  <a:srgbClr val="333333"/>
                </a:solidFill>
              </a:rPr>
              <a:t>Injection dynamique de la date</a:t>
            </a:r>
            <a:endParaRPr/>
          </a:p>
        </p:txBody>
      </p:sp>
      <p:sp>
        <p:nvSpPr>
          <p:cNvPr id="124" name="Google Shape;124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" sz="3200">
                <a:solidFill>
                  <a:srgbClr val="1C1C2C"/>
                </a:solidFill>
                <a:latin typeface="Calibri"/>
                <a:ea typeface="Calibri"/>
                <a:cs typeface="Calibri"/>
                <a:sym typeface="Calibri"/>
              </a:rPr>
              <a:t>API REST  -  FastAPI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aphicFrame>
        <p:nvGraphicFramePr>
          <p:cNvPr id="131" name="Google Shape;131;p19"/>
          <p:cNvGraphicFramePr/>
          <p:nvPr/>
        </p:nvGraphicFramePr>
        <p:xfrm>
          <a:off x="904072" y="3125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{00386028-F5F6-44C2-87D4-5F12B34F1396}</a:tableStyleId>
              </a:tblPr>
              <a:tblGrid>
                <a:gridCol w="1393400"/>
                <a:gridCol w="1260000"/>
                <a:gridCol w="3354175"/>
                <a:gridCol w="1331875"/>
              </a:tblGrid>
              <a:tr h="335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Méthode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Rôle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Sécurité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/health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</a:rPr>
                        <a:t>Vérification de l’état de l’API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64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/metadata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</a:rPr>
                        <a:t>Informations sur la base de données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 marT="45725" marB="45725" marR="91450" marL="91450"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CF0"/>
                    </a:solidFill>
                  </a:tcPr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333333"/>
                          </a:solidFill>
                        </a:rPr>
                        <a:t>/ask</a:t>
                      </a:r>
                      <a:endParaRPr b="1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333333"/>
                          </a:solidFill>
                        </a:rPr>
                        <a:t>POST</a:t>
                      </a:r>
                      <a:endParaRPr b="1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333333"/>
                          </a:solidFill>
                        </a:rPr>
                        <a:t>Question → Réponse RAG</a:t>
                      </a:r>
                      <a:endParaRPr b="1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333333"/>
                          </a:solidFill>
                        </a:rPr>
                        <a:t>Public</a:t>
                      </a:r>
                      <a:endParaRPr b="1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529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/rebuild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Reconstruction index FAISS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X-API-Key requis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8ECF0"/>
                    </a:solidFill>
                  </a:tcPr>
                </a:tc>
              </a:tr>
            </a:tbl>
          </a:graphicData>
        </a:graphic>
      </p:graphicFrame>
      <p:pic>
        <p:nvPicPr>
          <p:cNvPr id="132" name="Google Shape;132;p19" title="ap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2426" y="547237"/>
            <a:ext cx="3722924" cy="2333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" sz="3200">
                <a:solidFill>
                  <a:srgbClr val="1C1C2C"/>
                </a:solidFill>
                <a:latin typeface="Calibri"/>
                <a:ea typeface="Calibri"/>
                <a:cs typeface="Calibri"/>
                <a:sym typeface="Calibri"/>
              </a:rPr>
              <a:t>Tests &amp; Pipeline CI ( 1 / 2 )</a:t>
            </a:r>
            <a:endParaRPr/>
          </a:p>
        </p:txBody>
      </p:sp>
      <p:sp>
        <p:nvSpPr>
          <p:cNvPr id="138" name="Google Shape;138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aphicFrame>
        <p:nvGraphicFramePr>
          <p:cNvPr id="139" name="Google Shape;139;p20"/>
          <p:cNvGraphicFramePr/>
          <p:nvPr/>
        </p:nvGraphicFramePr>
        <p:xfrm>
          <a:off x="1602410" y="20961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{00386028-F5F6-44C2-87D4-5F12B34F1396}</a:tableStyleId>
              </a:tblPr>
              <a:tblGrid>
                <a:gridCol w="2123225"/>
                <a:gridCol w="3819575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Fichier de test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Ce qui est vérifié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test_fetch_events.py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Récupération, pagination, format JSON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test_preprocessing.py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Nettoyage, fallbacks, déduplication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E8ECF0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test_build_index.py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Chunking, création de l'index FAISS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test_rag_chain.py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Chargement index, fonction ask()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E8ECF0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api_test.py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Tous endpoints (nominal + cas d'erreur)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" sz="3200">
                <a:solidFill>
                  <a:srgbClr val="1C1C2C"/>
                </a:solidFill>
                <a:latin typeface="Calibri"/>
                <a:ea typeface="Calibri"/>
                <a:cs typeface="Calibri"/>
                <a:sym typeface="Calibri"/>
              </a:rPr>
              <a:t>Tests &amp; Pipeline CI ( 2 / 2 )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729450" y="2078875"/>
            <a:ext cx="7688700" cy="29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solidFill>
                  <a:srgbClr val="000000"/>
                </a:solidFill>
              </a:rPr>
              <a:t>Évaluation avec </a:t>
            </a:r>
            <a:r>
              <a:rPr b="1" lang="fr">
                <a:solidFill>
                  <a:srgbClr val="000000"/>
                </a:solidFill>
              </a:rPr>
              <a:t>RAGAS </a:t>
            </a:r>
            <a:r>
              <a:rPr lang="fr">
                <a:solidFill>
                  <a:srgbClr val="000000"/>
                </a:solidFill>
              </a:rPr>
              <a:t>:</a:t>
            </a:r>
            <a:endParaRPr>
              <a:solidFill>
                <a:srgbClr val="333333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300"/>
              <a:buChar char="●"/>
            </a:pPr>
            <a:r>
              <a:rPr lang="fr">
                <a:solidFill>
                  <a:srgbClr val="333333"/>
                </a:solidFill>
              </a:rPr>
              <a:t>12 questions </a:t>
            </a:r>
            <a:r>
              <a:rPr lang="fr">
                <a:solidFill>
                  <a:srgbClr val="333333"/>
                </a:solidFill>
              </a:rPr>
              <a:t>annotées</a:t>
            </a:r>
            <a:r>
              <a:rPr lang="fr">
                <a:solidFill>
                  <a:srgbClr val="333333"/>
                </a:solidFill>
              </a:rPr>
              <a:t> d</a:t>
            </a:r>
            <a:r>
              <a:rPr lang="fr" sz="1300">
                <a:solidFill>
                  <a:srgbClr val="333333"/>
                </a:solidFill>
              </a:rPr>
              <a:t>ont </a:t>
            </a:r>
            <a:r>
              <a:rPr lang="fr">
                <a:solidFill>
                  <a:srgbClr val="333333"/>
                </a:solidFill>
              </a:rPr>
              <a:t>une </a:t>
            </a:r>
            <a:r>
              <a:rPr lang="fr" sz="1300">
                <a:solidFill>
                  <a:srgbClr val="333333"/>
                </a:solidFill>
              </a:rPr>
              <a:t> hors périmètre et une ambigu</a:t>
            </a:r>
            <a:r>
              <a:rPr lang="fr">
                <a:solidFill>
                  <a:srgbClr val="333333"/>
                </a:solidFill>
              </a:rPr>
              <a:t>ë</a:t>
            </a:r>
            <a:endParaRPr sz="1300">
              <a:solidFill>
                <a:srgbClr val="333333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fr">
                <a:solidFill>
                  <a:srgbClr val="333333"/>
                </a:solidFill>
              </a:rPr>
              <a:t>4 </a:t>
            </a:r>
            <a:r>
              <a:rPr lang="fr">
                <a:solidFill>
                  <a:srgbClr val="333333"/>
                </a:solidFill>
              </a:rPr>
              <a:t>métriques</a:t>
            </a:r>
            <a:r>
              <a:rPr lang="fr">
                <a:solidFill>
                  <a:srgbClr val="333333"/>
                </a:solidFill>
              </a:rPr>
              <a:t> : </a:t>
            </a:r>
            <a:endParaRPr>
              <a:solidFill>
                <a:srgbClr val="333333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fr" sz="1300">
                <a:solidFill>
                  <a:srgbClr val="333333"/>
                </a:solidFill>
              </a:rPr>
              <a:t>answer_relevancy : </a:t>
            </a:r>
            <a:r>
              <a:rPr lang="fr" sz="1300">
                <a:solidFill>
                  <a:srgbClr val="333333"/>
                </a:solidFill>
              </a:rPr>
              <a:t>La réponse répond-elle bien à la question posée ?</a:t>
            </a:r>
            <a:endParaRPr sz="1300">
              <a:solidFill>
                <a:srgbClr val="333333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fr" sz="1300">
                <a:solidFill>
                  <a:srgbClr val="333333"/>
                </a:solidFill>
              </a:rPr>
              <a:t>faithfulness :</a:t>
            </a:r>
            <a:r>
              <a:rPr lang="fr" sz="1300">
                <a:solidFill>
                  <a:srgbClr val="333333"/>
                </a:solidFill>
              </a:rPr>
              <a:t> La réponse est-elle fidèle aux documents retrouvés ?</a:t>
            </a:r>
            <a:endParaRPr sz="1300">
              <a:solidFill>
                <a:srgbClr val="333333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fr" sz="1300">
                <a:solidFill>
                  <a:srgbClr val="333333"/>
                </a:solidFill>
              </a:rPr>
              <a:t>context_precision :</a:t>
            </a:r>
            <a:r>
              <a:rPr lang="fr" sz="1300">
                <a:solidFill>
                  <a:srgbClr val="333333"/>
                </a:solidFill>
              </a:rPr>
              <a:t> Les chunks retrouvés sont-ils pertinents ?</a:t>
            </a:r>
            <a:endParaRPr sz="1300">
              <a:solidFill>
                <a:srgbClr val="333333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fr" sz="1300">
                <a:solidFill>
                  <a:srgbClr val="333333"/>
                </a:solidFill>
              </a:rPr>
              <a:t>context_recall </a:t>
            </a:r>
            <a:r>
              <a:rPr lang="fr" sz="1300">
                <a:solidFill>
                  <a:srgbClr val="333333"/>
                </a:solidFill>
              </a:rPr>
              <a:t>: Toutes les informations nécessaires ont-elles été récupérées ?</a:t>
            </a:r>
            <a:endParaRPr b="1" sz="1300">
              <a:solidFill>
                <a:srgbClr val="333333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Char char="●"/>
            </a:pPr>
            <a:r>
              <a:rPr lang="fr">
                <a:solidFill>
                  <a:srgbClr val="333333"/>
                </a:solidFill>
              </a:rPr>
              <a:t>Résultats horodatés dans </a:t>
            </a:r>
            <a:r>
              <a:rPr b="1" lang="fr">
                <a:solidFill>
                  <a:srgbClr val="333333"/>
                </a:solidFill>
              </a:rPr>
              <a:t>results/</a:t>
            </a:r>
            <a:endParaRPr b="1">
              <a:solidFill>
                <a:srgbClr val="333333"/>
              </a:solidFill>
            </a:endParaRPr>
          </a:p>
          <a:p>
            <a:pPr indent="-311150" lvl="0" marL="457200" marR="76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Char char="●"/>
            </a:pPr>
            <a:r>
              <a:rPr lang="fr">
                <a:solidFill>
                  <a:srgbClr val="333333"/>
                </a:solidFill>
              </a:rPr>
              <a:t>Évaluation RAGAS exécutée uniquement si les tests passent</a:t>
            </a:r>
            <a:endParaRPr b="1">
              <a:solidFill>
                <a:srgbClr val="333333"/>
              </a:solidFill>
            </a:endParaRPr>
          </a:p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7" name="Google Shape;147;p21" title="resul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5701" y="469475"/>
            <a:ext cx="2938301" cy="232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" sz="3200">
                <a:solidFill>
                  <a:srgbClr val="1C1C2C"/>
                </a:solidFill>
                <a:latin typeface="Calibri"/>
                <a:ea typeface="Calibri"/>
                <a:cs typeface="Calibri"/>
                <a:sym typeface="Calibri"/>
              </a:rPr>
              <a:t>Résultats – Évaluation RAGAS</a:t>
            </a:r>
            <a:endParaRPr b="0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graphicFrame>
        <p:nvGraphicFramePr>
          <p:cNvPr id="154" name="Google Shape;154;p22"/>
          <p:cNvGraphicFramePr/>
          <p:nvPr/>
        </p:nvGraphicFramePr>
        <p:xfrm>
          <a:off x="375047" y="26913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{00386028-F5F6-44C2-87D4-5F12B34F1396}</a:tableStyleId>
              </a:tblPr>
              <a:tblGrid>
                <a:gridCol w="1744725"/>
                <a:gridCol w="1209175"/>
                <a:gridCol w="1024925"/>
                <a:gridCol w="910375"/>
                <a:gridCol w="35083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Métrique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 moyen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Seuil CI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Statut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/>
                        <a:t>Interprétation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dk1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333333"/>
                          </a:solidFill>
                        </a:rPr>
                        <a:t>answer_relevancy</a:t>
                      </a:r>
                      <a:endParaRPr b="1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333333"/>
                          </a:solidFill>
                        </a:rPr>
                        <a:t>0.871</a:t>
                      </a:r>
                      <a:endParaRPr b="1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</a:rPr>
                        <a:t>Réponses bien ciblées sur la question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333333"/>
                          </a:solidFill>
                        </a:rPr>
                        <a:t>faithfulness</a:t>
                      </a:r>
                      <a:endParaRPr b="1"/>
                    </a:p>
                  </a:txBody>
                  <a:tcPr marT="45725" marB="45725" marR="91450" marL="91450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333333"/>
                          </a:solidFill>
                        </a:rPr>
                        <a:t>0.740</a:t>
                      </a:r>
                      <a:endParaRPr b="1"/>
                    </a:p>
                  </a:txBody>
                  <a:tcPr marT="45725" marB="45725" marR="91450" marL="91450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Peu d'hallucinations - s'appuie sur les docs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CF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333333"/>
                          </a:solidFill>
                        </a:rPr>
                        <a:t>context_recall</a:t>
                      </a:r>
                      <a:endParaRPr b="1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333333"/>
                          </a:solidFill>
                        </a:rPr>
                        <a:t>0.833</a:t>
                      </a:r>
                      <a:endParaRPr b="1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</a:rPr>
                        <a:t>Infos nécessaires bien récupérées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333333"/>
                          </a:solidFill>
                        </a:rPr>
                        <a:t>context_precision</a:t>
                      </a:r>
                      <a:endParaRPr b="1"/>
                    </a:p>
                  </a:txBody>
                  <a:tcPr marT="45725" marB="45725" marR="91450" marL="91450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200" u="none" cap="none" strike="noStrike">
                          <a:solidFill>
                            <a:srgbClr val="333333"/>
                          </a:solidFill>
                        </a:rPr>
                        <a:t>0.633</a:t>
                      </a:r>
                      <a:endParaRPr b="1"/>
                    </a:p>
                  </a:txBody>
                  <a:tcPr marT="45725" marB="45725" marR="91450" marL="91450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 u="none" cap="none" strike="noStrike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</a:rPr>
                        <a:t>Quelques chunks hors sujet parfois</a:t>
                      </a:r>
                      <a:endParaRPr sz="1200">
                        <a:solidFill>
                          <a:srgbClr val="333333"/>
                        </a:solidFill>
                      </a:endParaRPr>
                    </a:p>
                  </a:txBody>
                  <a:tcPr marT="45725" marB="45725" marR="91450" marL="91450">
                    <a:solidFill>
                      <a:srgbClr val="E8ECF0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22"/>
          <p:cNvSpPr txBox="1"/>
          <p:nvPr/>
        </p:nvSpPr>
        <p:spPr>
          <a:xfrm>
            <a:off x="729450" y="2017450"/>
            <a:ext cx="83976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3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Évaluation réalisée le </a:t>
            </a:r>
            <a:r>
              <a:rPr b="1" lang="fr" sz="13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9 avril 2026</a:t>
            </a:r>
            <a:r>
              <a:rPr lang="fr" sz="13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  sur les </a:t>
            </a:r>
            <a:r>
              <a:rPr b="1" lang="fr" sz="13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12 </a:t>
            </a:r>
            <a:r>
              <a:rPr lang="fr" sz="1300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questions annotées :</a:t>
            </a:r>
            <a:endParaRPr sz="900">
              <a:solidFill>
                <a:srgbClr val="A9B7C6"/>
              </a:solidFill>
              <a:highlight>
                <a:srgbClr val="2B2B2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A9B7C6"/>
              </a:solidFill>
              <a:highlight>
                <a:srgbClr val="2B2B2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>
                <a:solidFill>
                  <a:srgbClr val="1C1C2C"/>
                </a:solidFill>
                <a:latin typeface="Calibri"/>
                <a:ea typeface="Calibri"/>
                <a:cs typeface="Calibri"/>
                <a:sym typeface="Calibri"/>
              </a:rPr>
              <a:t>Docker : Conteneurisation </a:t>
            </a:r>
            <a:endParaRPr/>
          </a:p>
        </p:txBody>
      </p:sp>
      <p:pic>
        <p:nvPicPr>
          <p:cNvPr id="161" name="Google Shape;161;p23" title="0_CP98BIIBgMG2K3u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1076" y="3182450"/>
            <a:ext cx="6121850" cy="204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fr">
                <a:solidFill>
                  <a:srgbClr val="000000"/>
                </a:solidFill>
              </a:rPr>
              <a:t>Environnement reproductible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fr">
                <a:solidFill>
                  <a:srgbClr val="000000"/>
                </a:solidFill>
              </a:rPr>
              <a:t>Lancement unifié pipeline + API (docker-compose)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fr">
                <a:solidFill>
                  <a:srgbClr val="000000"/>
                </a:solidFill>
              </a:rPr>
              <a:t>Secrets isolés du code source (.env)</a:t>
            </a:r>
            <a:endParaRPr>
              <a:solidFill>
                <a:srgbClr val="000000"/>
              </a:solidFill>
            </a:endParaRPr>
          </a:p>
          <a:p>
            <a:pPr indent="-311150" lvl="0" marL="457200" marR="76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Lato"/>
              <a:buChar char="●"/>
            </a:pPr>
            <a:r>
              <a:rPr lang="fr">
                <a:solidFill>
                  <a:srgbClr val="000000"/>
                </a:solidFill>
              </a:rPr>
              <a:t>Index FAISS persisté en volume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DEMO</a:t>
            </a:r>
            <a:endParaRPr/>
          </a:p>
        </p:txBody>
      </p:sp>
      <p:sp>
        <p:nvSpPr>
          <p:cNvPr id="169" name="Google Shape;169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70" name="Google Shape;170;p24" title="360_F_143238306_lh0ap42wgot36y44WybfQpvsJB5A1CHc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0300" y="889125"/>
            <a:ext cx="1924726" cy="1209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1" name="Google Shape;171;p24"/>
          <p:cNvGraphicFramePr/>
          <p:nvPr/>
        </p:nvGraphicFramePr>
        <p:xfrm>
          <a:off x="555210" y="25717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{00386028-F5F6-44C2-87D4-5F12B34F1396}</a:tableStyleId>
              </a:tblPr>
              <a:tblGrid>
                <a:gridCol w="4399600"/>
                <a:gridCol w="3864250"/>
              </a:tblGrid>
              <a:tr h="357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latin typeface="Lato"/>
                          <a:ea typeface="Lato"/>
                          <a:cs typeface="Lato"/>
                          <a:sym typeface="Lato"/>
                        </a:rPr>
                        <a:t>Action dans Postman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300">
                          <a:latin typeface="Lato"/>
                          <a:ea typeface="Lato"/>
                          <a:cs typeface="Lato"/>
                          <a:sym typeface="Lato"/>
                        </a:rPr>
                        <a:t>Ce que ça montre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chemeClr val="dk1"/>
                    </a:solidFill>
                  </a:tcPr>
                </a:tc>
              </a:tr>
              <a:tr h="357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GET /health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API opérationnelle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57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GET /metadata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Index chargé : X événements indexés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E8ECF0"/>
                    </a:solidFill>
                  </a:tcPr>
                </a:tc>
              </a:tr>
              <a:tr h="357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POST /ask — "Quels concerts gratuits en Île-de-France ?"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Cas nominal, réponse riche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57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POST /ask — "Y a-t-il des événements à Lyon ?"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Gestion hors périmètre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E8ECF0"/>
                    </a:solidFill>
                  </a:tcPr>
                </a:tc>
              </a:tr>
              <a:tr h="357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POST /rebuild (sans clé)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 sz="1200">
                          <a:solidFill>
                            <a:srgbClr val="333333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403 → sécurité</a:t>
                      </a:r>
                      <a:endParaRPr sz="1200">
                        <a:solidFill>
                          <a:srgbClr val="333333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" sz="3200">
                <a:solidFill>
                  <a:srgbClr val="1C1C2C"/>
                </a:solidFill>
                <a:latin typeface="Calibri"/>
                <a:ea typeface="Calibri"/>
                <a:cs typeface="Calibri"/>
                <a:sym typeface="Calibri"/>
              </a:rPr>
              <a:t>Bilan</a:t>
            </a:r>
            <a:endParaRPr/>
          </a:p>
        </p:txBody>
      </p:sp>
      <p:sp>
        <p:nvSpPr>
          <p:cNvPr id="177" name="Google Shape;177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Lato"/>
              <a:buChar char="●"/>
            </a:pPr>
            <a:r>
              <a:rPr lang="fr">
                <a:solidFill>
                  <a:srgbClr val="111111"/>
                </a:solidFill>
              </a:rPr>
              <a:t>Le pipeline de bout en bout est fonctionnel et reproductible</a:t>
            </a:r>
            <a:endParaRPr>
              <a:solidFill>
                <a:srgbClr val="11111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Lato"/>
              <a:buChar char="●"/>
            </a:pPr>
            <a:r>
              <a:rPr lang="fr">
                <a:solidFill>
                  <a:srgbClr val="111111"/>
                </a:solidFill>
              </a:rPr>
              <a:t>Bonne fidélité des réponses (faithfulness 0.74) : peu d'hallucinations</a:t>
            </a:r>
            <a:endParaRPr>
              <a:solidFill>
                <a:srgbClr val="11111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Lato"/>
              <a:buChar char="●"/>
            </a:pPr>
            <a:r>
              <a:rPr lang="fr">
                <a:solidFill>
                  <a:srgbClr val="111111"/>
                </a:solidFill>
              </a:rPr>
              <a:t>Gestion des cas hors périmètre (hors Île-de-France, hors base) opérationnelle</a:t>
            </a:r>
            <a:endParaRPr>
              <a:solidFill>
                <a:srgbClr val="11111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Lato"/>
              <a:buChar char="●"/>
            </a:pPr>
            <a:r>
              <a:rPr lang="fr">
                <a:solidFill>
                  <a:srgbClr val="111111"/>
                </a:solidFill>
              </a:rPr>
              <a:t>L'API est documentée, testée, conteneurisée et prête pour une démo</a:t>
            </a:r>
            <a:endParaRPr>
              <a:solidFill>
                <a:srgbClr val="111111"/>
              </a:solidFill>
            </a:endParaRPr>
          </a:p>
        </p:txBody>
      </p:sp>
      <p:sp>
        <p:nvSpPr>
          <p:cNvPr id="178" name="Google Shape;178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Limites et améliorations</a:t>
            </a:r>
            <a:endParaRPr/>
          </a:p>
        </p:txBody>
      </p:sp>
      <p:sp>
        <p:nvSpPr>
          <p:cNvPr id="184" name="Google Shape;184;p26"/>
          <p:cNvSpPr txBox="1"/>
          <p:nvPr>
            <p:ph idx="1" type="body"/>
          </p:nvPr>
        </p:nvSpPr>
        <p:spPr>
          <a:xfrm>
            <a:off x="729450" y="2078875"/>
            <a:ext cx="3536100" cy="23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308">
                <a:solidFill>
                  <a:srgbClr val="111111"/>
                </a:solidFill>
              </a:rPr>
              <a:t>Limites :</a:t>
            </a:r>
            <a:endParaRPr sz="1308">
              <a:solidFill>
                <a:srgbClr val="111111"/>
              </a:solidFill>
            </a:endParaRPr>
          </a:p>
          <a:p>
            <a:pPr indent="-3116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1111"/>
              </a:buClr>
              <a:buSzPts val="1308"/>
              <a:buFont typeface="Lato"/>
              <a:buChar char="●"/>
            </a:pPr>
            <a:r>
              <a:rPr lang="fr" sz="1308">
                <a:solidFill>
                  <a:srgbClr val="111111"/>
                </a:solidFill>
              </a:rPr>
              <a:t>Jeu de données limité</a:t>
            </a:r>
            <a:endParaRPr sz="1308">
              <a:solidFill>
                <a:srgbClr val="111111"/>
              </a:solidFill>
            </a:endParaRPr>
          </a:p>
          <a:p>
            <a:pPr indent="-3116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8"/>
              <a:buFont typeface="Lato"/>
              <a:buChar char="●"/>
            </a:pPr>
            <a:r>
              <a:rPr lang="fr" sz="1308">
                <a:solidFill>
                  <a:srgbClr val="111111"/>
                </a:solidFill>
              </a:rPr>
              <a:t>Pas de persistance des données</a:t>
            </a:r>
            <a:endParaRPr sz="1308">
              <a:solidFill>
                <a:srgbClr val="111111"/>
              </a:solidFill>
            </a:endParaRPr>
          </a:p>
          <a:p>
            <a:pPr indent="-3116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8"/>
              <a:buFont typeface="Lato"/>
              <a:buChar char="●"/>
            </a:pPr>
            <a:r>
              <a:rPr lang="fr" sz="1308">
                <a:solidFill>
                  <a:srgbClr val="111111"/>
                </a:solidFill>
              </a:rPr>
              <a:t>Pas de filtrage par métadonnées</a:t>
            </a:r>
            <a:endParaRPr sz="1308">
              <a:solidFill>
                <a:srgbClr val="111111"/>
              </a:solidFill>
            </a:endParaRPr>
          </a:p>
          <a:p>
            <a:pPr indent="-3116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8"/>
              <a:buFont typeface="Lato"/>
              <a:buChar char="●"/>
            </a:pPr>
            <a:r>
              <a:rPr lang="fr" sz="1308">
                <a:solidFill>
                  <a:srgbClr val="111111"/>
                </a:solidFill>
              </a:rPr>
              <a:t>Coût API Mistral</a:t>
            </a:r>
            <a:endParaRPr sz="1200"/>
          </a:p>
        </p:txBody>
      </p:sp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6" name="Google Shape;186;p26"/>
          <p:cNvSpPr txBox="1"/>
          <p:nvPr>
            <p:ph idx="1" type="body"/>
          </p:nvPr>
        </p:nvSpPr>
        <p:spPr>
          <a:xfrm>
            <a:off x="4818300" y="2078875"/>
            <a:ext cx="4057800" cy="23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308">
                <a:solidFill>
                  <a:srgbClr val="111111"/>
                </a:solidFill>
              </a:rPr>
              <a:t>Améliorations </a:t>
            </a:r>
            <a:r>
              <a:rPr lang="fr" sz="1308">
                <a:solidFill>
                  <a:srgbClr val="111111"/>
                </a:solidFill>
              </a:rPr>
              <a:t>:</a:t>
            </a:r>
            <a:endParaRPr sz="1308">
              <a:solidFill>
                <a:srgbClr val="111111"/>
              </a:solidFill>
            </a:endParaRPr>
          </a:p>
          <a:p>
            <a:pPr indent="-31166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1111"/>
              </a:buClr>
              <a:buSzPts val="1308"/>
              <a:buFont typeface="Lato"/>
              <a:buChar char="●"/>
            </a:pPr>
            <a:r>
              <a:rPr lang="fr" sz="1308">
                <a:solidFill>
                  <a:srgbClr val="111111"/>
                </a:solidFill>
              </a:rPr>
              <a:t>Base de données pour </a:t>
            </a:r>
            <a:r>
              <a:rPr lang="fr" sz="1308">
                <a:solidFill>
                  <a:srgbClr val="111111"/>
                </a:solidFill>
              </a:rPr>
              <a:t>stocker</a:t>
            </a:r>
            <a:r>
              <a:rPr lang="fr" sz="1308">
                <a:solidFill>
                  <a:srgbClr val="111111"/>
                </a:solidFill>
              </a:rPr>
              <a:t> les événements</a:t>
            </a:r>
            <a:endParaRPr sz="1308">
              <a:solidFill>
                <a:srgbClr val="111111"/>
              </a:solidFill>
            </a:endParaRPr>
          </a:p>
          <a:p>
            <a:pPr indent="-311665" lvl="0" marL="45720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8"/>
              <a:buFont typeface="Arial"/>
              <a:buChar char="●"/>
            </a:pPr>
            <a:r>
              <a:rPr lang="fr" sz="1308">
                <a:solidFill>
                  <a:srgbClr val="111111"/>
                </a:solidFill>
              </a:rPr>
              <a:t>Embed uniquement les nouveaux événements</a:t>
            </a:r>
            <a:endParaRPr sz="1308">
              <a:solidFill>
                <a:srgbClr val="111111"/>
              </a:solidFill>
            </a:endParaRPr>
          </a:p>
          <a:p>
            <a:pPr indent="-3116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8"/>
              <a:buFont typeface="Lato"/>
              <a:buChar char="●"/>
            </a:pPr>
            <a:r>
              <a:rPr lang="fr" sz="1308">
                <a:solidFill>
                  <a:srgbClr val="111111"/>
                </a:solidFill>
              </a:rPr>
              <a:t>Filtrage par métadonnées (date, département, conditions)</a:t>
            </a:r>
            <a:endParaRPr sz="1308">
              <a:solidFill>
                <a:srgbClr val="111111"/>
              </a:solidFill>
            </a:endParaRPr>
          </a:p>
          <a:p>
            <a:pPr indent="-3116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8"/>
              <a:buFont typeface="Lato"/>
              <a:buChar char="●"/>
            </a:pPr>
            <a:r>
              <a:rPr lang="fr" sz="1308">
                <a:solidFill>
                  <a:srgbClr val="111111"/>
                </a:solidFill>
              </a:rPr>
              <a:t>Historiqu</a:t>
            </a:r>
            <a:r>
              <a:rPr lang="fr" sz="1308">
                <a:solidFill>
                  <a:srgbClr val="111111"/>
                </a:solidFill>
              </a:rPr>
              <a:t>e de conversation</a:t>
            </a:r>
            <a:endParaRPr sz="1308">
              <a:solidFill>
                <a:srgbClr val="111111"/>
              </a:solidFill>
            </a:endParaRPr>
          </a:p>
          <a:p>
            <a:pPr indent="-31166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8"/>
              <a:buFont typeface="Arial"/>
              <a:buChar char="●"/>
            </a:pPr>
            <a:r>
              <a:rPr lang="fr" sz="1308">
                <a:solidFill>
                  <a:srgbClr val="111111"/>
                </a:solidFill>
              </a:rPr>
              <a:t>Déploiement de l’API</a:t>
            </a:r>
            <a:endParaRPr sz="1308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